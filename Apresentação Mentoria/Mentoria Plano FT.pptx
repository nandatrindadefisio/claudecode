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D8AD"/>
                </a:solidFill>
                <a:latin typeface="Century Gothic"/>
              </a:rPr>
              <a:t>MENTORIA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0" b="0">
                <a:solidFill>
                  <a:srgbClr val="FFFFFF"/>
                </a:solidFill>
                <a:latin typeface="Cormorant Garamond"/>
              </a:rPr>
              <a:t>PLANO 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entury Gothic"/>
              </a:rPr>
              <a:t>De fisioterapeuta invisível a referência lucrativa no particular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663440"/>
            <a:ext cx="640080" cy="1905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entury Gothic"/>
              </a:rPr>
              <a:t>Fernanda Trindade  ·  Fisioterapeuta Pediátrica &amp; Mentora de Negócios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1A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D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A502F"/>
                </a:solidFill>
                <a:latin typeface="Century Gothic"/>
              </a:rPr>
              <a:t>QUEM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1D2F55"/>
                </a:solidFill>
                <a:latin typeface="Cormorant Garamond"/>
              </a:rPr>
              <a:t>Fernanda Trindade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70"/>
                </a:solidFill>
                <a:latin typeface="Century Gothic"/>
              </a:rPr>
              <a:t>Fisioterapeuta Pediátrica &amp; Mentora de Negócios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548640" cy="1905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5454"/>
                </a:solidFill>
                <a:latin typeface="Century Gothic"/>
              </a:rPr>
              <a:t>Fisioterapeuta pediátrica com anos de experiência clínica, Fernanda trilhou o caminho que suas mentoradas agora percorrem — do trabalho excessivo e baixo lucro para um negócio estruturado, previsível e lucrativo. Hoje, além de atender, ela guia fisioterapeutas pediátricas a construírem negócios que refletem quem elas são e o quanto elas valem.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entury Gothic"/>
              </a:rPr>
              <a:t>[ foto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Century Gothic"/>
              </a:rPr>
              <a:t>Fernanda Trindade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5AF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entury Gothic"/>
              </a:rPr>
              <a:t>A ORIGEM DO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1">
                <a:solidFill>
                  <a:srgbClr val="FFFFFF"/>
                </a:solidFill>
                <a:latin typeface="Cormorant Garamond"/>
              </a:rPr>
              <a:t>Como nasceu o Plano 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3474720" cy="3657600"/>
          </a:xfrm>
          <a:prstGeom prst="rect">
            <a:avLst/>
          </a:prstGeom>
          <a:solidFill>
            <a:srgbClr val="7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Cormorant 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rmorant Garamond"/>
              </a:rPr>
              <a:t>Eu vivi isso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0"/>
                </a:solidFill>
                <a:latin typeface="Century Gothic"/>
              </a:rPr>
              <a:t>Fernanda passou pelo mesmo ciclo de exaustão e pouco retorno 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286000"/>
            <a:ext cx="3474720" cy="3657600"/>
          </a:xfrm>
          <a:prstGeom prst="rect">
            <a:avLst/>
          </a:prstGeom>
          <a:solidFill>
            <a:srgbClr val="7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4231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Cormorant 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rmorant Garamond"/>
              </a:rPr>
              <a:t>Aprendi na 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0"/>
                </a:solidFill>
                <a:latin typeface="Century Gothic"/>
              </a:rPr>
              <a:t>Estruturou seu próprio negócio do zero, testando e validando cada etapa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286000"/>
            <a:ext cx="3474720" cy="3657600"/>
          </a:xfrm>
          <a:prstGeom prst="rect">
            <a:avLst/>
          </a:prstGeom>
          <a:solidFill>
            <a:srgbClr val="7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4231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Cormorant 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rmorant Garamond"/>
              </a:rPr>
              <a:t>Agora compartilho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0"/>
                </a:solidFill>
                <a:latin typeface="Century Gothic"/>
              </a:rPr>
              <a:t>Transformou sua experiência em um método replicável e personalizado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9081"/>
                </a:solidFill>
                <a:latin typeface="Century Gothic"/>
              </a:rPr>
              <a:t>A PROMESSA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1D2F55"/>
                </a:solidFill>
                <a:latin typeface="Cormorant Garamond"/>
              </a:rPr>
              <a:t>"Você não precisa atender mais...
você precisa estruturar o que já tem."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3566160"/>
            <a:ext cx="548640" cy="1905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45454"/>
                </a:solidFill>
                <a:latin typeface="Century Gothic"/>
              </a:rPr>
              <a:t>Em 4 meses, você vai sair de fisioterapeuta operacional para profissional com negócio estruturado, lucrativo e previsível.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1D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D8AD"/>
                </a:solidFill>
                <a:latin typeface="Century Gothic"/>
              </a:rPr>
              <a:t>ESTA MENTORIA É PARA VOCÊ SE...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50">
                <a:solidFill>
                  <a:srgbClr val="EEEEEE"/>
                </a:solidFill>
                <a:latin typeface="Century Gothic"/>
              </a:rPr>
              <a:t>✦  Já atua como fisioterapeuta pediátrica mas trabalha muito e ganha pouco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EEEEEE"/>
                </a:solidFill>
                <a:latin typeface="Century Gothic"/>
              </a:rPr>
              <a:t>✦  Tem dificuldade de precificar seus serviços com segurança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EEEEEE"/>
                </a:solidFill>
                <a:latin typeface="Century Gothic"/>
              </a:rPr>
              <a:t>✦  Quer se posicionar como referência na sua cidade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EEEEEE"/>
                </a:solidFill>
                <a:latin typeface="Century Gothic"/>
              </a:rPr>
              <a:t>✦  Está cansada de atender em várias cidades sem previsibilidade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EEEEEE"/>
                </a:solidFill>
                <a:latin typeface="Century Gothic"/>
              </a:rPr>
              <a:t>✦  Quer uma agenda estratégica e um negócio que sustente sua qualidade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D2F55"/>
                </a:solidFill>
                <a:latin typeface="Cormorant Garamond"/>
              </a:rPr>
              <a:t>"A mentoria certa,
no momento certo,
muda tudo."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D7F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entury Gothic"/>
              </a:rPr>
              <a:t>VOCÊ JÁ DISSE ALGUMA DESSAS FRASES?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1">
                <a:solidFill>
                  <a:srgbClr val="FFFFFF"/>
                </a:solidFill>
                <a:latin typeface="Cormorant Garamond"/>
              </a:rPr>
              <a:t>Você se reconhece?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474720" cy="1691640"/>
          </a:xfrm>
          <a:prstGeom prst="rect">
            <a:avLst/>
          </a:prstGeom>
          <a:solidFill>
            <a:srgbClr val="D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ormorant Garamond"/>
              </a:rPr>
              <a:t>"Eu trabalho muito e não vejo resultado"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011680"/>
            <a:ext cx="3474720" cy="1691640"/>
          </a:xfrm>
          <a:prstGeom prst="rect">
            <a:avLst/>
          </a:prstGeom>
          <a:solidFill>
            <a:srgbClr val="D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ormorant Garamond"/>
              </a:rPr>
              <a:t>"Eu sei atender, mas não sei crescer"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011680"/>
            <a:ext cx="3474720" cy="1691640"/>
          </a:xfrm>
          <a:prstGeom prst="rect">
            <a:avLst/>
          </a:prstGeom>
          <a:solidFill>
            <a:srgbClr val="D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ormorant Garamond"/>
              </a:rPr>
              <a:t>"Eu não consigo cobrar mais"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114800"/>
            <a:ext cx="3474720" cy="1691640"/>
          </a:xfrm>
          <a:prstGeom prst="rect">
            <a:avLst/>
          </a:prstGeom>
          <a:solidFill>
            <a:srgbClr val="D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4389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ormorant Garamond"/>
              </a:rPr>
              <a:t>"Não tenho organização nenhuma"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3474720" cy="1691640"/>
          </a:xfrm>
          <a:prstGeom prst="rect">
            <a:avLst/>
          </a:prstGeom>
          <a:solidFill>
            <a:srgbClr val="D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389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ormorant Garamond"/>
              </a:rPr>
              <a:t>"Eu vivo cansada"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D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0"/>
            <a:ext cx="5486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2F55"/>
                </a:solidFill>
                <a:latin typeface="Century Gothic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entury Gothic"/>
              </a:rPr>
              <a:t>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Cormorant Garamond"/>
              </a:rPr>
              <a:t>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DDDDDD"/>
                </a:solidFill>
                <a:latin typeface="Century Gothic"/>
              </a:rPr>
              <a:t>—  Trabalha em excesso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DDDDDD"/>
                </a:solidFill>
                <a:latin typeface="Century Gothic"/>
              </a:rPr>
              <a:t>—  Atende em várias cidades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DDDDDD"/>
                </a:solidFill>
                <a:latin typeface="Century Gothic"/>
              </a:rPr>
              <a:t>—  Cobra abaixo do valor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DDDDDD"/>
                </a:solidFill>
                <a:latin typeface="Century Gothic"/>
              </a:rPr>
              <a:t>—  Agenda desorganizada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DDDDDD"/>
                </a:solidFill>
                <a:latin typeface="Century Gothic"/>
              </a:rPr>
              <a:t>—  Sem posicionamento claro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DDDDDD"/>
                </a:solidFill>
                <a:latin typeface="Century Gothic"/>
              </a:rPr>
              <a:t>—  Financeiro caótico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entury Gothic"/>
              </a:rPr>
              <a:t>DEPOIS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822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Cormorant Garamond"/>
              </a:rPr>
              <a:t>Depois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FFFFFF"/>
                </a:solidFill>
                <a:latin typeface="Century Gothic"/>
              </a:rPr>
              <a:t>✓  Trabalha menos com mais retorno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FFFFF"/>
                </a:solidFill>
                <a:latin typeface="Century Gothic"/>
              </a:rPr>
              <a:t>✓  Agenda concentrada e estratégica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FFFFF"/>
                </a:solidFill>
                <a:latin typeface="Century Gothic"/>
              </a:rPr>
              <a:t>✓  Cobra premium com segurança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FFFFF"/>
                </a:solidFill>
                <a:latin typeface="Century Gothic"/>
              </a:rPr>
              <a:t>✓  Agenda previsível e organizada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FFFFF"/>
                </a:solidFill>
                <a:latin typeface="Century Gothic"/>
              </a:rPr>
              <a:t>✓  Referência reconhecida na cidade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FFFFF"/>
                </a:solidFill>
                <a:latin typeface="Century Gothic"/>
              </a:rPr>
              <a:t>✓  Lucro real e estruturado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9081"/>
                </a:solidFill>
                <a:latin typeface="Century Gothic"/>
              </a:rPr>
              <a:t>A JORNADA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1D2F55"/>
                </a:solidFill>
                <a:latin typeface="Cormorant Garamond"/>
              </a:rPr>
              <a:t>A Estrutura da Mentoria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9A502F"/>
                </a:solidFill>
                <a:latin typeface="Cormorant Garamond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2F55"/>
                </a:solidFill>
                <a:latin typeface="Century Gothic"/>
              </a:rPr>
              <a:t>MESES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9A502F"/>
                </a:solidFill>
                <a:latin typeface="Cormorant Garamond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2F55"/>
                </a:solidFill>
                <a:latin typeface="Century Gothic"/>
              </a:rPr>
              <a:t>ENCONTROS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9A502F"/>
                </a:solidFill>
                <a:latin typeface="Cormorant Garamond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2F55"/>
                </a:solidFill>
                <a:latin typeface="Century Gothic"/>
              </a:rPr>
              <a:t>PILARES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1270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2011680"/>
            <a:ext cx="1270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45454"/>
                </a:solidFill>
                <a:latin typeface="Century Gothic"/>
              </a:rPr>
              <a:t>Uma jornada estratégica e progressiva, do alicerce ao próximo nível.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3D8AD"/>
                </a:solidFill>
                <a:latin typeface="Century Gothic"/>
              </a:rPr>
              <a:t>OS 5 PILARES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ormorant Garamond"/>
              </a:rPr>
              <a:t>A Estrutura Completa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148840" cy="438912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6596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Cormorant 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017520"/>
            <a:ext cx="1819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ormorant Garamond"/>
              </a:rPr>
              <a:t>Clareza e Identidade
Estratégica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394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entury Gothic"/>
              </a:rPr>
              <a:t>2 encontros · Mês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0632" y="1828800"/>
            <a:ext cx="2148840" cy="438912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196596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Cormorant 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4" y="3017520"/>
            <a:ext cx="1819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ormorant Garamond"/>
              </a:rPr>
              <a:t>Precificação e
Estrutura de Negócio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5394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entury Gothic"/>
              </a:rPr>
              <a:t>2 encontros · Mês 1-2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1828800"/>
            <a:ext cx="2148840" cy="438912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196596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Cormorant 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3017520"/>
            <a:ext cx="1819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ormorant Garamond"/>
              </a:rPr>
              <a:t>Presença Digital e
Atração de Pacientes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5394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entury Gothic"/>
              </a:rPr>
              <a:t>3 encontros · Mês 2-3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97496" y="1828800"/>
            <a:ext cx="2148840" cy="438912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196596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Cormorant Garamo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017520"/>
            <a:ext cx="1819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ormorant Garamond"/>
              </a:rPr>
              <a:t>Organização e
Controle do Negócio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394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entury Gothic"/>
              </a:rPr>
              <a:t>2 encontros · Mês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10928" y="1828800"/>
            <a:ext cx="2148840" cy="438912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96596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Cormorant Garamo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017520"/>
            <a:ext cx="1819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ormorant Garamond"/>
              </a:rPr>
              <a:t>Consolidação e
Próximo Nível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5394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entury Gothic"/>
              </a:rPr>
              <a:t>3 encontros · Mês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95AF71"/>
                </a:solidFill>
                <a:latin typeface="Cormorant Garamon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entury Gothic"/>
              </a:rPr>
              <a:t>PILAR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D2F55"/>
                </a:solidFill>
                <a:latin typeface="Cormorant Garamond"/>
              </a:rPr>
              <a:t>Clareza e Identidade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5454"/>
                </a:solidFill>
                <a:latin typeface="Century Gothic"/>
              </a:rPr>
              <a:t>O alicerce de tudo.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F71"/>
                </a:solidFill>
                <a:latin typeface="Century Gothic"/>
              </a:rPr>
              <a:t>2 encontros · Mês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5577840" cy="4445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5AF71"/>
                </a:solidFill>
                <a:latin typeface="Century Gothic"/>
              </a:rPr>
              <a:t>ENCONTRO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A Virada de Chave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Diagnóstico de crenças limitantes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Mapeamento da jornada profissional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Identificação do maior medo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Definição do estilo de vida desejado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Primeira meta financeira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468880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468880"/>
            <a:ext cx="5577840" cy="4445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5AF71"/>
                </a:solidFill>
                <a:latin typeface="Century Gothic"/>
              </a:rPr>
              <a:t>ENCONTRO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O Mapa Estratégico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290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Definição do nicho e posicionamento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Frase de posicionamento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Diagnóstico de gargalos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Limite de atendimentos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3 prioridades de ação imediata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9A502F"/>
                </a:solidFill>
                <a:latin typeface="Cormorant Garamon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entury Gothic"/>
              </a:rPr>
              <a:t>PILAR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D2F55"/>
                </a:solidFill>
                <a:latin typeface="Cormorant Garamond"/>
              </a:rPr>
              <a:t>Precificação e Estrutura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5454"/>
                </a:solidFill>
                <a:latin typeface="Century Gothic"/>
              </a:rPr>
              <a:t>Porque o dinheiro precisa mudar antes da estratégia.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502F"/>
                </a:solidFill>
                <a:latin typeface="Century Gothic"/>
              </a:rPr>
              <a:t>2 encontros · Mês 1-2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5577840" cy="4445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A502F"/>
                </a:solidFill>
                <a:latin typeface="Century Gothic"/>
              </a:rPr>
              <a:t>ENCONTRO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O Dinheiro que Você Merece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Cálculo real do custo hora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Precificação por valor percebido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Pacotes premium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Política de descontos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Reserva de segurança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468880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468880"/>
            <a:ext cx="5577840" cy="4445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A502F"/>
                </a:solidFill>
                <a:latin typeface="Century Gothic"/>
              </a:rPr>
              <a:t>ENCONTRO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A Estrutura que Sustenta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290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PF vs PJ — qual se encaixa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Pró-labore adequado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Contratos e termos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Ferramentas de controle financeiro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1D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3D8AD"/>
                </a:solidFill>
                <a:latin typeface="Century Gothic"/>
              </a:rPr>
              <a:t>✦  Ela sai com o preço novo definido e o compromisso de cobrar na próxima venda.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1F577B"/>
                </a:solidFill>
                <a:latin typeface="Cormorant Garamon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entury Gothic"/>
              </a:rPr>
              <a:t>PILAR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D2F55"/>
                </a:solidFill>
                <a:latin typeface="Cormorant Garamond"/>
              </a:rPr>
              <a:t>Presença Digital e Atração de Pacientes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5454"/>
                </a:solidFill>
                <a:latin typeface="Century Gothic"/>
              </a:rPr>
              <a:t>Atrair pacientes no Instagram é estratégia, narrativa e consistência.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577B"/>
                </a:solidFill>
                <a:latin typeface="Century Gothic"/>
              </a:rPr>
              <a:t>3 encontros · Mês 2-3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3566160" cy="4445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577B"/>
                </a:solidFill>
                <a:latin typeface="Century Gothic"/>
              </a:rPr>
              <a:t>ENCONTRO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O Instagram que Converte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Auditoria do perfil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Bio com posicionamento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3 pilares de conteúdo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Estratégia de destaques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Frequência viável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46888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2468880"/>
            <a:ext cx="3566160" cy="4445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577B"/>
                </a:solidFill>
                <a:latin typeface="Century Gothic"/>
              </a:rPr>
              <a:t>ENCONTRO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Conteúdo que Atrai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Alcance vs conversão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Roteiro para vídeos curtos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5 tipos de post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Calendário 30 dias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Stories com urgência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6888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566160" cy="4445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577B"/>
                </a:solidFill>
                <a:latin typeface="Century Gothic"/>
              </a:rPr>
              <a:t>ENCONTRO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Do Seguidor ao Paciente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Fluxo post→DM→WhatsApp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Script de atendimento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Responder objeções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Roteiro primeira consulta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C29081"/>
                </a:solidFill>
                <a:latin typeface="Cormorant Garamond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entury Gothic"/>
              </a:rPr>
              <a:t>PILAR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D2F55"/>
                </a:solidFill>
                <a:latin typeface="Cormorant Garamond"/>
              </a:rPr>
              <a:t>Organização e Controle do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5454"/>
                </a:solidFill>
                <a:latin typeface="Century Gothic"/>
              </a:rPr>
              <a:t>Quando ela já tem o que organizar — a estrutura que sustenta o crescimento.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29081"/>
                </a:solidFill>
                <a:latin typeface="Century Gothic"/>
              </a:rPr>
              <a:t>2 encontros · Mês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5577840" cy="4445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9081"/>
                </a:solidFill>
                <a:latin typeface="Century Gothic"/>
              </a:rPr>
              <a:t>ENCONTRO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A Estrutura Invisível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Semana ideal desenhada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Fluxo do paciente padronizado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Padronização de processos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Automação no WhatsApp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468880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468880"/>
            <a:ext cx="5577840" cy="4445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9081"/>
                </a:solidFill>
                <a:latin typeface="Century Gothic"/>
              </a:rPr>
              <a:t>ENCONTRO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Gestão e Indicadores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290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Os 5 números essenciais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Carteira ativa vs inativa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Notion/Trello aplicado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Taxa de ocupação ideal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9D9D70"/>
                </a:solidFill>
                <a:latin typeface="Cormorant Garamond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entury Gothic"/>
              </a:rPr>
              <a:t>PILAR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D2F55"/>
                </a:solidFill>
                <a:latin typeface="Cormorant Garamond"/>
              </a:rPr>
              <a:t>Consolidação e Próximo Nível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5454"/>
                </a:solidFill>
                <a:latin typeface="Century Gothic"/>
              </a:rPr>
              <a:t>A reta final não é revisão — é construção do futuro.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D9D70"/>
                </a:solidFill>
                <a:latin typeface="Century Gothic"/>
              </a:rPr>
              <a:t>3 encontros · Mês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3566160" cy="4445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D9D70"/>
                </a:solidFill>
                <a:latin typeface="Century Gothic"/>
              </a:rPr>
              <a:t>ENCONTRO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Ajustes e Otimização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Análise dos indicadores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Revisão de posicionamento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Ajustes de preço e agenda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46888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2468880"/>
            <a:ext cx="3566160" cy="4445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D9D70"/>
                </a:solidFill>
                <a:latin typeface="Century Gothic"/>
              </a:rPr>
              <a:t>ENCONTRO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Expansão Estratégica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Consultório próprio vs domiciliar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Parcerias locais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Construção da marca pessoal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Planejamento 6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6888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566160" cy="4445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D9D70"/>
                </a:solidFill>
                <a:latin typeface="Century Gothic"/>
              </a:rPr>
              <a:t>ENCONTRO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2F55"/>
                </a:solidFill>
                <a:latin typeface="Cormorant Garamond"/>
              </a:rPr>
              <a:t>A Fisioterapeuta que Você Virou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Celebração da jornada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Carta do Encontro 1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Posicionamento renovado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545454"/>
                </a:solidFill>
                <a:latin typeface="Century Gothic"/>
              </a:rPr>
              <a:t>·  Ritual de encerramento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entury Gothic"/>
              </a:rPr>
              <a:t>CRONOGRAMA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ormorant Garamond"/>
              </a:rPr>
              <a:t>A Jornada Mês a Mês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698480" cy="1905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965960"/>
            <a:ext cx="640080" cy="64008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920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95AF71"/>
                </a:solidFill>
                <a:latin typeface="Century Gothic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5AF71"/>
                </a:solidFill>
                <a:latin typeface="Century Gothic"/>
              </a:rPr>
              <a:t>Mês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ormorant Garamond"/>
              </a:rPr>
              <a:t>O Alicerce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2743200" cy="2743200"/>
          </a:xfrm>
          <a:prstGeom prst="rect">
            <a:avLst/>
          </a:prstGeom>
          <a:solidFill>
            <a:srgbClr val="25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49039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8EE"/>
                </a:solidFill>
                <a:latin typeface="Century Gothic"/>
              </a:rPr>
              <a:t>Pilares 1 e 2
Encontros 1, 2, 3, 4
Clareza, identidade, precificação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965960"/>
            <a:ext cx="640080" cy="64008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920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9A502F"/>
                </a:solidFill>
                <a:latin typeface="Century Gothic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A502F"/>
                </a:solidFill>
                <a:latin typeface="Century Gothic"/>
              </a:rPr>
              <a:t>Mês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71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ormorant Garamond"/>
              </a:rPr>
              <a:t>A Vitrine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657600"/>
            <a:ext cx="2743200" cy="2743200"/>
          </a:xfrm>
          <a:prstGeom prst="rect">
            <a:avLst/>
          </a:prstGeom>
          <a:solidFill>
            <a:srgbClr val="25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3749039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8EE"/>
                </a:solidFill>
                <a:latin typeface="Century Gothic"/>
              </a:rPr>
              <a:t>Pilar 3 início
Encontros 5, 6, 7
Instagram, conteúdo, conversão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965960"/>
            <a:ext cx="640080" cy="64008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920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F577B"/>
                </a:solidFill>
                <a:latin typeface="Century Gothic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577B"/>
                </a:solidFill>
                <a:latin typeface="Century Gothic"/>
              </a:rPr>
              <a:t>Mês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71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ormorant Garamond"/>
              </a:rPr>
              <a:t>A Estrutura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657600"/>
            <a:ext cx="2743200" cy="2743200"/>
          </a:xfrm>
          <a:prstGeom prst="rect">
            <a:avLst/>
          </a:prstGeom>
          <a:solidFill>
            <a:srgbClr val="25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749039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8EE"/>
                </a:solidFill>
                <a:latin typeface="Century Gothic"/>
              </a:rPr>
              <a:t>Pilares 3 fim e 4
Encontros 8, 9
Organização, gestão, indicadores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1965960"/>
            <a:ext cx="640080" cy="64008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1920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29081"/>
                </a:solidFill>
                <a:latin typeface="Century Gothic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29081"/>
                </a:solidFill>
                <a:latin typeface="Century Gothic"/>
              </a:rPr>
              <a:t>Mês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971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ormorant Garamond"/>
              </a:rPr>
              <a:t>O Futuro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3657600"/>
            <a:ext cx="2743200" cy="2743200"/>
          </a:xfrm>
          <a:prstGeom prst="rect">
            <a:avLst/>
          </a:prstGeom>
          <a:solidFill>
            <a:srgbClr val="25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3749039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8EE"/>
                </a:solidFill>
                <a:latin typeface="Century Gothic"/>
              </a:rPr>
              <a:t>Pilar 5
Encontros 10, 11, 12
Ajustes, expansão, celebração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9081"/>
                </a:solidFill>
                <a:latin typeface="Century Gothic"/>
              </a:rPr>
              <a:t>O QUE VOCÊ RECEBE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D2F55"/>
                </a:solidFill>
                <a:latin typeface="Cormorant Garamond"/>
              </a:rPr>
              <a:t>O que está incluído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9164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070860"/>
            <a:ext cx="2194560" cy="3810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5AF71"/>
                </a:solidFill>
                <a:latin typeface="Century Gothic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16712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12 encontros estratégicos ao vivo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169164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79192" y="3070860"/>
            <a:ext cx="2194560" cy="3810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801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502F"/>
                </a:solidFill>
                <a:latin typeface="Century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6712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Materiais exclusivos por pilar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169164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38344" y="3070860"/>
            <a:ext cx="2194560" cy="3810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1801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577B"/>
                </a:solidFill>
                <a:latin typeface="Century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16712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Suporte entre os encontros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97496" y="169164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7496" y="3070860"/>
            <a:ext cx="2194560" cy="3810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1801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081"/>
                </a:solidFill>
                <a:latin typeface="Century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16712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Exercícios práticos com aplicação imediata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56648" y="169164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6648" y="3070860"/>
            <a:ext cx="2194560" cy="38100"/>
          </a:xfrm>
          <a:prstGeom prst="rect">
            <a:avLst/>
          </a:prstGeom>
          <a:solidFill>
            <a:srgbClr val="9D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1801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D9D70"/>
                </a:solidFill>
                <a:latin typeface="Century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216712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Calendário de conteúdo personalizado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4612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625340"/>
            <a:ext cx="2194560" cy="38100"/>
          </a:xfrm>
          <a:prstGeom prst="rect">
            <a:avLst/>
          </a:prstGeom>
          <a:solidFill>
            <a:srgbClr val="BD7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7F68"/>
                </a:solidFill>
                <a:latin typeface="Century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372160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Scripts e roteiros de atendimento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9192" y="324612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79192" y="4625340"/>
            <a:ext cx="2194560" cy="3810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3355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5AF71"/>
                </a:solidFill>
                <a:latin typeface="Century Gothic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372160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Ferramentas de gestão financeira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8344" y="324612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38344" y="4625340"/>
            <a:ext cx="2194560" cy="38100"/>
          </a:xfrm>
          <a:prstGeom prst="rect">
            <a:avLst/>
          </a:prstGeom>
          <a:solidFill>
            <a:srgbClr val="1D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3355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D2F55"/>
                </a:solidFill>
                <a:latin typeface="Century Gothic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372160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Plano de continuidade pós-mentoria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97496" y="324612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97496" y="4625340"/>
            <a:ext cx="2194560" cy="3810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34656" y="3355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502F"/>
                </a:solidFill>
                <a:latin typeface="Century Gothic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224" y="372160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Acesso a comunidade de fisioterapeutas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56648" y="3246120"/>
            <a:ext cx="2194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56648" y="4625340"/>
            <a:ext cx="2194560" cy="3810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93808" y="3355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577B"/>
                </a:solidFill>
                <a:latin typeface="Century Gothic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372160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2F55"/>
                </a:solidFill>
                <a:latin typeface="Century Gothic"/>
              </a:rPr>
              <a:t>Gravação de todos os encontros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9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entury Gothic"/>
              </a:rPr>
              <a:t>A JORNADA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FFFFFF"/>
                </a:solidFill>
                <a:latin typeface="Cormorant Garamond"/>
              </a:rPr>
              <a:t>A transformação que acontece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5303520" cy="4114800"/>
          </a:xfrm>
          <a:prstGeom prst="rect">
            <a:avLst/>
          </a:prstGeom>
          <a:solidFill>
            <a:srgbClr val="888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FEE"/>
                </a:solidFill>
                <a:latin typeface="Century Gothic"/>
              </a:rPr>
              <a:t>Antes da Mentoria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0F8F0"/>
                </a:solidFill>
                <a:latin typeface="Century Gothic"/>
              </a:rPr>
              <a:t>✕  Exaustão — trabalha muito, sobra pouco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8F0"/>
                </a:solidFill>
                <a:latin typeface="Century Gothic"/>
              </a:rPr>
              <a:t>✕  Medo de cobrar mais e perder pacientes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8F0"/>
                </a:solidFill>
                <a:latin typeface="Century Gothic"/>
              </a:rPr>
              <a:t>✕  Posta sem estratégia, sem retorno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8F0"/>
                </a:solidFill>
                <a:latin typeface="Century Gothic"/>
              </a:rPr>
              <a:t>✕  Agenda desorganizada e imprevisível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8F0"/>
                </a:solidFill>
                <a:latin typeface="Century Gothic"/>
              </a:rPr>
              <a:t>✕  Sem controle financeiro real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8F0"/>
                </a:solidFill>
                <a:latin typeface="Century Gothic"/>
              </a:rPr>
              <a:t>✕  Invisível na sua cidade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entury Gothic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828800"/>
            <a:ext cx="5303520" cy="4114800"/>
          </a:xfrm>
          <a:prstGeom prst="rect">
            <a:avLst/>
          </a:prstGeom>
          <a:solidFill>
            <a:srgbClr val="888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FEE"/>
                </a:solidFill>
                <a:latin typeface="Century Gothic"/>
              </a:rPr>
              <a:t>Depois da Mentoria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3172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entury Gothic"/>
              </a:rPr>
              <a:t>✓  Clareza total de quem é e o que oferece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entury Gothic"/>
              </a:rPr>
              <a:t>✓  Cobra premium com segurança e naturalidade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entury Gothic"/>
              </a:rPr>
              <a:t>✓  Conteúdo estratégico que atrai e converte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entury Gothic"/>
              </a:rPr>
              <a:t>✓  Agenda previsível e semana ideal estruturada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entury Gothic"/>
              </a:rPr>
              <a:t>✓  Lucro real e controle financeiro funcionando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entury Gothic"/>
              </a:rPr>
              <a:t>✓  Reconhecida como referência na 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80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0F8F0"/>
                </a:solidFill>
                <a:latin typeface="Cormorant Garamond"/>
              </a:rPr>
              <a:t>"Você não compra conteúdo. Você compra direção, estrutura e segurança para crescer."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3D8AD"/>
                </a:solidFill>
                <a:latin typeface="Century Gothic"/>
              </a:rPr>
              <a:t>INVESTIMENTO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ormorant Garamond"/>
              </a:rPr>
              <a:t>Mentoria Plano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  <a:latin typeface="Century Gothic"/>
              </a:rPr>
              <a:t>4 meses de transformação estratégica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286000"/>
            <a:ext cx="5212080" cy="3291840"/>
          </a:xfrm>
          <a:prstGeom prst="rect">
            <a:avLst/>
          </a:prstGeom>
          <a:solidFill>
            <a:srgbClr val="22355F"/>
          </a:solidFill>
          <a:ln w="9525">
            <a:solidFill>
              <a:srgbClr val="3A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entury Gothic"/>
              </a:rPr>
              <a:t>INVESTIMENTO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7432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D3D8AD"/>
                </a:solidFill>
                <a:latin typeface="Cormorant Garamond"/>
              </a:rPr>
              <a:t>R$ 3.000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931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BBCC"/>
                </a:solidFill>
                <a:latin typeface="Century Gothic"/>
              </a:rPr>
              <a:t>Ou em até 6x de R$ 500,00
Pagamento via PIX, cartão ou boleto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754880"/>
            <a:ext cx="2103120" cy="127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5029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78899"/>
                </a:solidFill>
                <a:latin typeface="Century Gothic"/>
              </a:rPr>
              <a:t>Vagas limitadas por turma para garantir acompanhamento personalizado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9081"/>
                </a:solidFill>
                <a:latin typeface="Century Gothic"/>
              </a:rPr>
              <a:t>DÚVIDAS FREQUENTES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D2F55"/>
                </a:solidFill>
                <a:latin typeface="Cormorant Garamond"/>
              </a:rPr>
              <a:t>Perguntas que você pode 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5760720" cy="2423160"/>
          </a:xfrm>
          <a:prstGeom prst="rect">
            <a:avLst/>
          </a:prstGeom>
          <a:solidFill>
            <a:srgbClr val="FFFFFF"/>
          </a:solidFill>
          <a:ln w="38100">
            <a:solidFill>
              <a:srgbClr val="95A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50800" cy="242316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D2F55"/>
                </a:solidFill>
                <a:latin typeface="Cormorant Garamond"/>
              </a:rPr>
              <a:t>"Agora não é o momento certo..."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5454"/>
                </a:solidFill>
                <a:latin typeface="Century Gothic"/>
              </a:rPr>
              <a:t>O momento nunca vai ser perfeito. Se você sente que algo precisa mudar, esse é exatamente o sinal. A mentoria foi desenhada para caber na sua realidade atual.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760720" cy="2423160"/>
          </a:xfrm>
          <a:prstGeom prst="rect">
            <a:avLst/>
          </a:prstGeom>
          <a:solidFill>
            <a:srgbClr val="FFFFFF"/>
          </a:solidFill>
          <a:ln w="38100">
            <a:solidFill>
              <a:srgbClr val="9A5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0800" cy="2423160"/>
          </a:xfrm>
          <a:prstGeom prst="rect">
            <a:avLst/>
          </a:prstGeom>
          <a:solidFill>
            <a:srgbClr val="9A5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D2F55"/>
                </a:solidFill>
                <a:latin typeface="Cormorant Garamond"/>
              </a:rPr>
              <a:t>"Acho que está caro para mim..."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5454"/>
                </a:solidFill>
                <a:latin typeface="Century Gothic"/>
              </a:rPr>
              <a:t>A pergunta certa não é "quanto custa", mas "quanto me custa continuar onde estou?". É um investimento direto no aumento do seu faturamento.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72000"/>
            <a:ext cx="5760720" cy="2423160"/>
          </a:xfrm>
          <a:prstGeom prst="rect">
            <a:avLst/>
          </a:prstGeom>
          <a:solidFill>
            <a:srgbClr val="FFFFFF"/>
          </a:solidFill>
          <a:ln w="38100">
            <a:solidFill>
              <a:srgbClr val="1F5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572000"/>
            <a:ext cx="50800" cy="2423160"/>
          </a:xfrm>
          <a:prstGeom prst="rect">
            <a:avLst/>
          </a:prstGeom>
          <a:solidFill>
            <a:srgbClr val="1F5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D2F55"/>
                </a:solidFill>
                <a:latin typeface="Cormorant Garamond"/>
              </a:rPr>
              <a:t>"Minha realidade é diferente..."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30368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5454"/>
                </a:solidFill>
                <a:latin typeface="Century Gothic"/>
              </a:rPr>
              <a:t>A mentoria é personalizada. O método é estruturado, mas cada encontro é adaptado à sua cidade, ao seu perfil e ao seu momento. Não existe solução genérica aqui.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572000"/>
            <a:ext cx="5760720" cy="2423160"/>
          </a:xfrm>
          <a:prstGeom prst="rect">
            <a:avLst/>
          </a:prstGeom>
          <a:solidFill>
            <a:srgbClr val="FFFFFF"/>
          </a:solidFill>
          <a:ln w="38100">
            <a:solidFill>
              <a:srgbClr val="C29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572000"/>
            <a:ext cx="50800" cy="2423160"/>
          </a:xfrm>
          <a:prstGeom prst="rect">
            <a:avLst/>
          </a:prstGeom>
          <a:solidFill>
            <a:srgbClr val="C29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D2F55"/>
                </a:solidFill>
                <a:latin typeface="Cormorant Garamond"/>
              </a:rPr>
              <a:t>"Tenho medo de não conseguir aplicar..."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30368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5454"/>
                </a:solidFill>
                <a:latin typeface="Century Gothic"/>
              </a:rPr>
              <a:t>Por isso cada encontro tem tarefas práticas e imediatas. O método foi desenhado para ação, não para teoria. Você vai saber exatamente o que fazer.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8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25400" cy="6858000"/>
          </a:xfrm>
          <a:prstGeom prst="rect">
            <a:avLst/>
          </a:prstGeom>
          <a:solidFill>
            <a:srgbClr val="95A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D8AD"/>
                </a:solidFill>
                <a:latin typeface="Century Gothic"/>
              </a:rPr>
              <a:t>PRONTA PARA DAR O PRÓXIMO PASSO?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1">
                <a:solidFill>
                  <a:srgbClr val="FFFFFF"/>
                </a:solidFill>
                <a:latin typeface="Cormorant Garamond"/>
              </a:rPr>
              <a:t>"Chegou a hora de estruturar
o que você já tem."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Century Gothic"/>
              </a:rPr>
              <a:t>De fisioterapeuta invisível a referência lucrativa no particular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2926080" cy="566928"/>
          </a:xfrm>
          <a:prstGeom prst="rect">
            <a:avLst/>
          </a:prstGeom>
          <a:solidFill>
            <a:srgbClr val="BD7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788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Gothic"/>
              </a:rPr>
              <a:t>QUERO MINHA VAGA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1828800" cy="127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9"/>
                </a:solidFill>
                <a:latin typeface="Century Gothic"/>
              </a:rPr>
              <a:t>Fernanda Trindade  ·  Fisioterapeuta Pediátrica &amp; Mentora
@nandatrindade.fisio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56688"/>
                </a:solidFill>
                <a:latin typeface="Cormorant Garamond"/>
              </a:rPr>
              <a:t>Mentoria Plano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A3D6A"/>
                </a:solidFill>
                <a:latin typeface="Cormorant Garamond"/>
              </a:rPr>
              <a:t>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029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7"/>
                </a:solidFill>
                <a:latin typeface="Century Gothic"/>
              </a:rPr>
              <a:t>fisioterapeuta pediátrica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